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9B3ADB1-651E-A578-0703-1D1B194354F7}">
          <p14:sldIdLst>
            <p14:sldId id="256"/>
          </p14:sldIdLst>
        </p14:section>
        <p14:section name="The problem" id="{787820D3-3344-8F85-D9E0-842749576A38}">
          <p14:sldIdLst>
            <p14:sldId id="257"/>
          </p14:sldIdLst>
        </p14:section>
        <p14:section name="How skills work" id="{B454C9D0-1E15-2D45-9F72-AC0921B5A1A1}">
          <p14:sldIdLst>
            <p14:sldId id="258"/>
          </p14:sldIdLst>
        </p14:section>
        <p14:section name="Where skills fit" id="{68E20839-B265-D5DC-E1B5-C473919CA3B0}">
          <p14:sldIdLst>
            <p14:sldId id="259"/>
            <p14:sldId id="260"/>
          </p14:sldIdLst>
        </p14:section>
        <p14:section name="Why it matters" id="{087CC194-D1D8-A9F0-5845-D2CE90CD0FF5}">
          <p14:sldIdLst>
            <p14:sldId id="261"/>
          </p14:sldIdLst>
        </p14:section>
        <p14:section name="Close" id="{082C27AB-F36C-833C-3AD3-B685706A7246}">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27"/>
    <p:restoredTop sz="74210"/>
  </p:normalViewPr>
  <p:slideViewPr>
    <p:cSldViewPr snapToGrid="0" snapToObjects="1">
      <p:cViewPr varScale="1">
        <p:scale>
          <a:sx n="117" d="100"/>
          <a:sy n="117" d="100"/>
        </p:scale>
        <p:origin x="131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9623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
Hi everyone. Today I'm teaching you about AI agent skills, based on Martin Keen's 2026 video from IBM Technology.
By the end, you'll know what a skill is, how an agent decides when to use one, and how skills differ from tools you may have heard of, like RAG.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
Large language models already know a lot of facts.
What they lack is PROCEDURAL knowledge: how work actually gets done at for your specific use case.
Martin's example is a 47-step workflow for producing a compliant financial report. When an agent gets that task, it has two options. Either someone types out all 47 steps every time or the agent just guesses.
In a regulated business, neither of those is acceptable. A skill is how you add that procedural knowledge to the agent once, so it can reuse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sec]
The format is simple. A skill is a folder with one markdown file in it, called SKILL.md. Instead of loading all at once, it loads in 3 tiers, which Martin calls progressive disclosure.
Tier 1 is a short header with two required fields: a NAME and a DESCRIPTION. The description is the trigger. Martin's example is a skill called PDF Builder, described as "use when the user asks to extract a PDF." There's no hard-coded matching; the model reads the descriptions and uses its own reasoning to decide when a skill applies to a task. This tier is ALWAYS loaded, but it's only a handful of tokens per skill. He compares it to a table of contents: just enough information for the agent to make a decision. 
Tier 2 is the body of the file: the instructions. This includes details like step-by-step workflows, rules and examples, in plain markdown. These load only when the agent determines a request matches the description.
Tier 3 is the optional folders: scripts the agent can run, reference documents, and other static assets like templates. These load only at the point of need.
Why does this matter? An agent might have hundreds of skills, and loading all of them in full would blow through the context window before anyone asked a question. Progressive disclosure means using a lightweight index first, and detail only on demand. That’s how skills scale.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
Skills aren't the only way to give an agent knowledge, so here's where they fit.
MCP, the Model Context Protocol, gives tool access: calling external APIs and services. It's what the agent can reach, but it doesn't say when to reach for it or what do do with it.
RAG, retrieval augmented generation, gives factual knowledge: it looks up relevant information at run time. It's reference material, not instructions.
Fine-tuning bakes knowledge into the model's weights. It's permanent, but expensive, and it has to be redone when the model changes.
Skills give procedural knowledge: how to do the work, in what order, and with what judgment.
All these types of knowledge work together.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
Martin offers a frame from cognitive science that ties this together. Humans have three kinds of memory.
Semantic memory is facts, like "Rome is the capital of Italy." Episodic memory is experiences, like "I went to Rome last summer." Procedural memory is how-to, like riding a scooter through Rome and surviving.
Agents are starting to mirror this: knowledge bases for facts, conversation logs for experiences, and skills for how-to.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
One caution, about skills that other people share publicly, the way developers share open-source code. Skills can include scripts with access to your file system, environment variables and API keys, and those scripts usually run locally on your machine. That's what makes skills powerful, and it's why trust matters.
Audits of publicly shared skills have found prompt injection, tool poisoning and hidden malware.
So treat installing someone else's skill like installing any software dependency: review it and understand it before you run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Let's go back to that 47-step financial report. Without a skill, someone retypes 47 steps every time, or the agent guesses.
With a skill, you write the procedure once, in one file. The agent picks it up when the description matches, and loads only what it needs.
One point that's easy to mix up: what's public is the SKILL.md FORMAT, not your skills. The format is an open standard, published at agentskills.io, which is why the same file works in Claude Code, OpenAI Codex and other tools. Think of it like PDF: the format is public, but your company's PDFs aren't. Your skills stay private unless you choose to share them.
For a business, that means your SOPs and playbooks become something agents follow consistently. Thank you!
TIMING: ~6 minutes spoken, leaving about a minute of buffer.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161A23"/>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5852160" cy="155448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548640" y="3063240"/>
            <a:ext cx="5852160" cy="548640"/>
          </a:xfrm>
          <a:prstGeom prst="rect">
            <a:avLst/>
          </a:prstGeom>
          <a:noFill/>
          <a:ln/>
        </p:spPr>
        <p:txBody>
          <a:bodyPr wrap="square" rtlCol="0"/>
          <a:lstStyle>
            <a:lvl1pPr marL="0" indent="0" algn="l">
              <a:buNone/>
              <a:defRPr lang="en-US" sz="2000" dirty="0">
                <a:solidFill>
                  <a:schemeClr val="bg2"/>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Dark">
    <p:bg>
      <p:bgPr>
        <a:solidFill>
          <a:srgbClr val="161A23"/>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68580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5852160" cy="1554480"/>
          </a:xfrm>
          <a:prstGeom prst="rect">
            <a:avLst/>
          </a:prstGeom>
          <a:noFill/>
          <a:ln/>
        </p:spPr>
        <p:txBody>
          <a:bodyPr wrap="square" lIns="0" tIns="0" rIns="0" bIns="0" rtlCol="0" anchor="b"/>
          <a:lstStyle/>
          <a:p>
            <a:pPr marL="0" indent="0" algn="l">
              <a:buNone/>
            </a:pPr>
            <a:r>
              <a:rPr lang="en-US" sz="4000" b="1" dirty="0">
                <a:solidFill>
                  <a:schemeClr val="bg1"/>
                </a:solidFill>
              </a:rPr>
              <a:t>Teaching AI agents how to do the job</a:t>
            </a:r>
            <a:endParaRPr lang="en-US" sz="4000" dirty="0"/>
          </a:p>
        </p:txBody>
      </p:sp>
      <p:sp>
        <p:nvSpPr>
          <p:cNvPr id="3" name="Text 0"/>
          <p:cNvSpPr>
            <a:spLocks noGrp="1"/>
          </p:cNvSpPr>
          <p:nvPr>
            <p:ph type="body" idx="101" hasCustomPrompt="1"/>
          </p:nvPr>
        </p:nvSpPr>
        <p:spPr>
          <a:xfrm>
            <a:off x="548640" y="3063240"/>
            <a:ext cx="5852160" cy="548640"/>
          </a:xfrm>
          <a:prstGeom prst="rect">
            <a:avLst/>
          </a:prstGeom>
          <a:noFill/>
          <a:ln/>
        </p:spPr>
        <p:txBody>
          <a:bodyPr wrap="square" lIns="0" tIns="0" rIns="0" bIns="0" rtlCol="0" anchor="t"/>
          <a:lstStyle/>
          <a:p>
            <a:pPr marL="0" indent="0" algn="l">
              <a:buNone/>
            </a:pPr>
            <a:r>
              <a:rPr lang="en-US" sz="2000" dirty="0">
                <a:solidFill>
                  <a:schemeClr val="bg2"/>
                </a:solidFill>
              </a:rPr>
              <a:t>How agents learn your unique workflows</a:t>
            </a:r>
            <a:endParaRPr lang="en-US" sz="2000" dirty="0"/>
          </a:p>
        </p:txBody>
      </p:sp>
      <p:sp>
        <p:nvSpPr>
          <p:cNvPr id="4" name="Credit"/>
          <p:cNvSpPr txBox="1"/>
          <p:nvPr/>
        </p:nvSpPr>
        <p:spPr>
          <a:xfrm>
            <a:off x="548640" y="4343400"/>
            <a:ext cx="7772400" cy="320040"/>
          </a:xfrm>
          <a:prstGeom prst="rect">
            <a:avLst/>
          </a:prstGeom>
          <a:noFill/>
          <a:ln/>
        </p:spPr>
        <p:txBody>
          <a:bodyPr wrap="square" lIns="0" tIns="0" rIns="0" bIns="0" rtlCol="0" anchor="ctr"/>
          <a:lstStyle/>
          <a:p>
            <a:pPr marL="0" indent="0">
              <a:buNone/>
            </a:pPr>
            <a:r>
              <a:rPr lang="en-US" sz="1100" dirty="0">
                <a:solidFill>
                  <a:schemeClr val="bg2"/>
                </a:solidFill>
              </a:rPr>
              <a:t>Laura Solarz  ·  BUS/FIN 241A  ·  Source: “What AI Agent Skills Are and How They Work” IBM Technology, Martin Keen (2026)</a:t>
            </a:r>
            <a:endParaRPr lang="en-US" sz="1100" dirty="0"/>
          </a:p>
        </p:txBody>
      </p:sp>
      <p:pic>
        <p:nvPicPr>
          <p:cNvPr id="5" name="Folder icon" descr="preencoded.png"/>
          <p:cNvPicPr>
            <a:picLocks noChangeAspect="1"/>
          </p:cNvPicPr>
          <p:nvPr/>
        </p:nvPicPr>
        <p:blipFill>
          <a:blip r:embed="rId3"/>
          <a:stretch>
            <a:fillRect/>
          </a:stretch>
        </p:blipFill>
        <p:spPr>
          <a:xfrm>
            <a:off x="6720840" y="1417320"/>
            <a:ext cx="1828800" cy="1828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685800"/>
          </a:xfrm>
          <a:prstGeom prst="rect">
            <a:avLst/>
          </a:prstGeom>
          <a:noFill/>
          <a:ln/>
        </p:spPr>
        <p:txBody>
          <a:bodyPr wrap="square" lIns="0" tIns="0" rIns="0" bIns="0" rtlCol="0" anchor="ctr"/>
          <a:lstStyle/>
          <a:p>
            <a:pPr marL="0" indent="0" algn="l">
              <a:buNone/>
            </a:pPr>
            <a:r>
              <a:rPr lang="en-US" sz="3000" b="1" dirty="0">
                <a:solidFill>
                  <a:schemeClr val="bg1"/>
                </a:solidFill>
              </a:rPr>
              <a:t>LLMs know facts, not your procedures</a:t>
            </a:r>
            <a:endParaRPr lang="en-US" sz="3000" dirty="0"/>
          </a:p>
        </p:txBody>
      </p:sp>
      <p:sp>
        <p:nvSpPr>
          <p:cNvPr id="3" name="Big 47"/>
          <p:cNvSpPr txBox="1"/>
          <p:nvPr/>
        </p:nvSpPr>
        <p:spPr>
          <a:xfrm>
            <a:off x="548640" y="1234440"/>
            <a:ext cx="2651760" cy="2011680"/>
          </a:xfrm>
          <a:prstGeom prst="rect">
            <a:avLst/>
          </a:prstGeom>
          <a:noFill/>
          <a:ln/>
        </p:spPr>
        <p:txBody>
          <a:bodyPr wrap="square" lIns="0" tIns="0" rIns="0" bIns="0" rtlCol="0" anchor="ctr"/>
          <a:lstStyle/>
          <a:p>
            <a:pPr marL="0" indent="0">
              <a:buNone/>
            </a:pPr>
            <a:r>
              <a:rPr lang="en-US" sz="14000" b="1" dirty="0">
                <a:solidFill>
                  <a:schemeClr val="accent1"/>
                </a:solidFill>
                <a:latin typeface="Arial" pitchFamily="34" charset="0"/>
                <a:ea typeface="Arial" pitchFamily="34" charset="-122"/>
                <a:cs typeface="Arial" pitchFamily="34" charset="-120"/>
              </a:rPr>
              <a:t>47</a:t>
            </a:r>
            <a:endParaRPr lang="en-US" sz="14000" dirty="0"/>
          </a:p>
        </p:txBody>
      </p:sp>
      <p:sp>
        <p:nvSpPr>
          <p:cNvPr id="4" name="47 label"/>
          <p:cNvSpPr txBox="1"/>
          <p:nvPr/>
        </p:nvSpPr>
        <p:spPr>
          <a:xfrm>
            <a:off x="3291840" y="1600200"/>
            <a:ext cx="5303520" cy="1280160"/>
          </a:xfrm>
          <a:prstGeom prst="rect">
            <a:avLst/>
          </a:prstGeom>
          <a:noFill/>
          <a:ln/>
        </p:spPr>
        <p:txBody>
          <a:bodyPr wrap="square" lIns="0" tIns="0" rIns="0" bIns="0" rtlCol="0" anchor="ctr"/>
          <a:lstStyle/>
          <a:p>
            <a:pPr marL="0" indent="0">
              <a:buNone/>
            </a:pPr>
            <a:r>
              <a:rPr lang="en-US" sz="2600" dirty="0">
                <a:solidFill>
                  <a:schemeClr val="bg1"/>
                </a:solidFill>
              </a:rPr>
              <a:t>steps to produce one compliant report</a:t>
            </a:r>
            <a:endParaRPr lang="en-US" sz="2600" dirty="0"/>
          </a:p>
        </p:txBody>
      </p:sp>
      <p:sp>
        <p:nvSpPr>
          <p:cNvPr id="5" name="Option A"/>
          <p:cNvSpPr/>
          <p:nvPr/>
        </p:nvSpPr>
        <p:spPr>
          <a:xfrm>
            <a:off x="548640" y="3657600"/>
            <a:ext cx="3840480" cy="777240"/>
          </a:xfrm>
          <a:prstGeom prst="roundRect">
            <a:avLst>
              <a:gd name="adj" fmla="val 11765"/>
            </a:avLst>
          </a:prstGeom>
          <a:solidFill>
            <a:schemeClr val="tx2"/>
          </a:solidFill>
          <a:ln/>
        </p:spPr>
        <p:txBody>
          <a:bodyPr wrap="square" rtlCol="0" anchor="ctr"/>
          <a:lstStyle/>
          <a:p>
            <a:pPr marL="0" indent="0" algn="ctr">
              <a:buNone/>
            </a:pPr>
            <a:r>
              <a:rPr lang="en-US" sz="1800" dirty="0">
                <a:solidFill>
                  <a:schemeClr val="bg2"/>
                </a:solidFill>
              </a:rPr>
              <a:t>Prompt </a:t>
            </a:r>
            <a:r>
              <a:rPr lang="en-US" dirty="0">
                <a:solidFill>
                  <a:schemeClr val="bg2"/>
                </a:solidFill>
              </a:rPr>
              <a:t>each step every </a:t>
            </a:r>
            <a:r>
              <a:rPr lang="en-US" sz="1800" dirty="0">
                <a:solidFill>
                  <a:schemeClr val="bg2"/>
                </a:solidFill>
              </a:rPr>
              <a:t>time</a:t>
            </a:r>
            <a:endParaRPr lang="en-US" sz="1800" dirty="0"/>
          </a:p>
        </p:txBody>
      </p:sp>
      <p:sp>
        <p:nvSpPr>
          <p:cNvPr id="6" name="Option B"/>
          <p:cNvSpPr/>
          <p:nvPr/>
        </p:nvSpPr>
        <p:spPr>
          <a:xfrm>
            <a:off x="4754880" y="3657600"/>
            <a:ext cx="3840480" cy="777240"/>
          </a:xfrm>
          <a:prstGeom prst="roundRect">
            <a:avLst>
              <a:gd name="adj" fmla="val 11765"/>
            </a:avLst>
          </a:prstGeom>
          <a:solidFill>
            <a:schemeClr val="tx2"/>
          </a:solidFill>
          <a:ln/>
        </p:spPr>
        <p:txBody>
          <a:bodyPr wrap="square" rtlCol="0" anchor="ctr"/>
          <a:lstStyle/>
          <a:p>
            <a:pPr marL="0" indent="0" algn="ctr">
              <a:buNone/>
            </a:pPr>
            <a:r>
              <a:rPr lang="en-US" sz="1800" dirty="0">
                <a:solidFill>
                  <a:schemeClr val="accent3"/>
                </a:solidFill>
              </a:rPr>
              <a:t>Or it guesses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685800"/>
          </a:xfrm>
          <a:prstGeom prst="rect">
            <a:avLst/>
          </a:prstGeom>
          <a:noFill/>
          <a:ln/>
        </p:spPr>
        <p:txBody>
          <a:bodyPr wrap="square" lIns="0" tIns="0" rIns="0" bIns="0" rtlCol="0" anchor="ctr"/>
          <a:lstStyle/>
          <a:p>
            <a:pPr marL="0" indent="0" algn="l">
              <a:buNone/>
            </a:pPr>
            <a:r>
              <a:rPr lang="en-US" sz="3000" b="1" dirty="0">
                <a:solidFill>
                  <a:schemeClr val="bg1"/>
                </a:solidFill>
              </a:rPr>
              <a:t>A skill is a folder that loads in layers</a:t>
            </a:r>
            <a:endParaRPr lang="en-US" sz="3000" dirty="0"/>
          </a:p>
        </p:txBody>
      </p:sp>
      <p:sp>
        <p:nvSpPr>
          <p:cNvPr id="3" name="Tier 1"/>
          <p:cNvSpPr/>
          <p:nvPr/>
        </p:nvSpPr>
        <p:spPr>
          <a:xfrm>
            <a:off x="548640" y="1325880"/>
            <a:ext cx="5669280" cy="914400"/>
          </a:xfrm>
          <a:prstGeom prst="roundRect">
            <a:avLst>
              <a:gd name="adj" fmla="val 10000"/>
            </a:avLst>
          </a:prstGeom>
          <a:solidFill>
            <a:schemeClr val="accent1"/>
          </a:solidFill>
          <a:ln/>
        </p:spPr>
        <p:txBody>
          <a:bodyPr wrap="square" lIns="203200" tIns="203200" rIns="203200" bIns="203200" rtlCol="0" anchor="ctr"/>
          <a:lstStyle/>
          <a:p>
            <a:pPr marL="0" indent="0">
              <a:spcAft>
                <a:spcPts val="200"/>
              </a:spcAft>
              <a:buNone/>
            </a:pPr>
            <a:r>
              <a:rPr lang="en-US" sz="2200" b="1" dirty="0">
                <a:solidFill>
                  <a:schemeClr val="tx1"/>
                </a:solidFill>
              </a:rPr>
              <a:t>SKILL.md: name + description</a:t>
            </a:r>
            <a:endParaRPr lang="en-US" sz="2200" dirty="0"/>
          </a:p>
          <a:p>
            <a:pPr marL="0" indent="0">
              <a:spcAft>
                <a:spcPts val="200"/>
              </a:spcAft>
              <a:buNone/>
            </a:pPr>
            <a:r>
              <a:rPr lang="en-US" sz="1500" dirty="0">
                <a:solidFill>
                  <a:schemeClr val="tx1"/>
                </a:solidFill>
              </a:rPr>
              <a:t>Tier 1 · required · always loaded · the trigger</a:t>
            </a:r>
            <a:endParaRPr lang="en-US" sz="2200" dirty="0"/>
          </a:p>
        </p:txBody>
      </p:sp>
      <p:sp>
        <p:nvSpPr>
          <p:cNvPr id="4" name="Tier 2"/>
          <p:cNvSpPr/>
          <p:nvPr/>
        </p:nvSpPr>
        <p:spPr>
          <a:xfrm>
            <a:off x="548640" y="2404872"/>
            <a:ext cx="5669280" cy="914400"/>
          </a:xfrm>
          <a:prstGeom prst="roundRect">
            <a:avLst>
              <a:gd name="adj" fmla="val 10000"/>
            </a:avLst>
          </a:prstGeom>
          <a:solidFill>
            <a:schemeClr val="tx2"/>
          </a:solidFill>
          <a:ln/>
        </p:spPr>
        <p:txBody>
          <a:bodyPr wrap="square" lIns="203200" tIns="203200" rIns="203200" bIns="203200" rtlCol="0" anchor="ctr"/>
          <a:lstStyle/>
          <a:p>
            <a:pPr marL="0" indent="0">
              <a:spcAft>
                <a:spcPts val="200"/>
              </a:spcAft>
              <a:buNone/>
            </a:pPr>
            <a:r>
              <a:rPr lang="en-US" sz="2200" b="1" dirty="0">
                <a:solidFill>
                  <a:schemeClr val="bg1"/>
                </a:solidFill>
              </a:rPr>
              <a:t>SKILL.md: instructions</a:t>
            </a:r>
            <a:endParaRPr lang="en-US" sz="2200" dirty="0"/>
          </a:p>
          <a:p>
            <a:pPr marL="0" indent="0">
              <a:spcAft>
                <a:spcPts val="200"/>
              </a:spcAft>
              <a:buNone/>
            </a:pPr>
            <a:r>
              <a:rPr lang="en-US" sz="1500" dirty="0">
                <a:solidFill>
                  <a:schemeClr val="bg2"/>
                </a:solidFill>
              </a:rPr>
              <a:t>Tier 2 · loaded when a request matches</a:t>
            </a:r>
            <a:endParaRPr lang="en-US" sz="2200" dirty="0"/>
          </a:p>
        </p:txBody>
      </p:sp>
      <p:sp>
        <p:nvSpPr>
          <p:cNvPr id="5" name="Tier 3"/>
          <p:cNvSpPr/>
          <p:nvPr/>
        </p:nvSpPr>
        <p:spPr>
          <a:xfrm>
            <a:off x="548640" y="3483864"/>
            <a:ext cx="5669280" cy="914400"/>
          </a:xfrm>
          <a:prstGeom prst="roundRect">
            <a:avLst>
              <a:gd name="adj" fmla="val 10000"/>
            </a:avLst>
          </a:prstGeom>
          <a:solidFill>
            <a:schemeClr val="tx2"/>
          </a:solidFill>
          <a:ln/>
        </p:spPr>
        <p:txBody>
          <a:bodyPr wrap="square" lIns="203200" tIns="203200" rIns="203200" bIns="203200" rtlCol="0" anchor="ctr"/>
          <a:lstStyle/>
          <a:p>
            <a:pPr marL="0" indent="0">
              <a:spcAft>
                <a:spcPts val="200"/>
              </a:spcAft>
              <a:buNone/>
            </a:pPr>
            <a:r>
              <a:rPr lang="en-US" sz="2200" b="1" dirty="0">
                <a:solidFill>
                  <a:schemeClr val="bg1"/>
                </a:solidFill>
              </a:rPr>
              <a:t>Optional: scripts/ · references/ · assets/</a:t>
            </a:r>
            <a:endParaRPr lang="en-US" sz="2200" dirty="0"/>
          </a:p>
          <a:p>
            <a:pPr marL="0" indent="0">
              <a:spcAft>
                <a:spcPts val="200"/>
              </a:spcAft>
              <a:buNone/>
            </a:pPr>
            <a:r>
              <a:rPr lang="en-US" sz="1500" dirty="0">
                <a:solidFill>
                  <a:schemeClr val="bg2"/>
                </a:solidFill>
              </a:rPr>
              <a:t>Tier 3 · only when needed</a:t>
            </a:r>
            <a:endParaRPr lang="en-US" sz="2200" dirty="0"/>
          </a:p>
        </p:txBody>
      </p:sp>
      <p:sp>
        <p:nvSpPr>
          <p:cNvPr id="6" name="Progressive disclosure label"/>
          <p:cNvSpPr txBox="1"/>
          <p:nvPr/>
        </p:nvSpPr>
        <p:spPr>
          <a:xfrm>
            <a:off x="6446520" y="1325880"/>
            <a:ext cx="2148840" cy="914400"/>
          </a:xfrm>
          <a:prstGeom prst="rect">
            <a:avLst/>
          </a:prstGeom>
          <a:noFill/>
        </p:spPr>
        <p:txBody>
          <a:bodyPr wrap="square" lIns="0" tIns="0" rIns="0" bIns="0" rtlCol="0" anchor="ctr"/>
          <a:lstStyle/>
          <a:p>
            <a:pPr algn="ctr">
              <a:spcAft>
                <a:spcPts val="300"/>
              </a:spcAft>
            </a:pPr>
            <a:r>
              <a:rPr lang="en-US" sz="1900" b="1" dirty="0">
                <a:solidFill>
                  <a:schemeClr val="accent1"/>
                </a:solidFill>
              </a:rPr>
              <a:t>Progressive disclosure</a:t>
            </a:r>
          </a:p>
          <a:p>
            <a:pPr algn="ctr"/>
            <a:r>
              <a:rPr lang="en-US" sz="1400" dirty="0">
                <a:solidFill>
                  <a:schemeClr val="bg2"/>
                </a:solidFill>
              </a:rPr>
              <a:t>more detail, loaded later</a:t>
            </a:r>
          </a:p>
        </p:txBody>
      </p:sp>
      <p:sp>
        <p:nvSpPr>
          <p:cNvPr id="7" name="Disclosure arrow"/>
          <p:cNvSpPr/>
          <p:nvPr/>
        </p:nvSpPr>
        <p:spPr>
          <a:xfrm>
            <a:off x="7200900" y="2404872"/>
            <a:ext cx="640080" cy="1993392"/>
          </a:xfrm>
          <a:prstGeom prst="downArrow">
            <a:avLst/>
          </a:prstGeom>
          <a:solidFill>
            <a:schemeClr val="bg2"/>
          </a:solidFill>
          <a:ln>
            <a:noFill/>
          </a:ln>
        </p:spPr>
        <p:txBody>
          <a:bodyPr rtlCol="0" anchor="ctr"/>
          <a:lstStyle/>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685800"/>
          </a:xfrm>
          <a:prstGeom prst="rect">
            <a:avLst/>
          </a:prstGeom>
          <a:noFill/>
          <a:ln/>
        </p:spPr>
        <p:txBody>
          <a:bodyPr wrap="square" lIns="0" tIns="0" rIns="0" bIns="0" rtlCol="0" anchor="ctr"/>
          <a:lstStyle/>
          <a:p>
            <a:pPr marL="0" indent="0" algn="l">
              <a:buNone/>
            </a:pPr>
            <a:r>
              <a:rPr lang="en-US" sz="3000" b="1" dirty="0">
                <a:solidFill>
                  <a:schemeClr val="bg1"/>
                </a:solidFill>
              </a:rPr>
              <a:t>Four ways to give an agent knowledge</a:t>
            </a:r>
            <a:endParaRPr lang="en-US" sz="3000" dirty="0"/>
          </a:p>
        </p:txBody>
      </p:sp>
      <p:sp>
        <p:nvSpPr>
          <p:cNvPr id="3" name="MCP card"/>
          <p:cNvSpPr/>
          <p:nvPr/>
        </p:nvSpPr>
        <p:spPr>
          <a:xfrm>
            <a:off x="548640" y="1554480"/>
            <a:ext cx="1828800" cy="2468880"/>
          </a:xfrm>
          <a:prstGeom prst="roundRect">
            <a:avLst>
              <a:gd name="adj" fmla="val 6000"/>
            </a:avLst>
          </a:prstGeom>
          <a:solidFill>
            <a:schemeClr val="tx2"/>
          </a:solidFill>
          <a:ln/>
        </p:spPr>
        <p:txBody>
          <a:bodyPr wrap="square" lIns="152400" tIns="152400" rIns="152400" bIns="152400" rtlCol="0" anchor="ctr"/>
          <a:lstStyle/>
          <a:p>
            <a:pPr marL="0" indent="0">
              <a:spcAft>
                <a:spcPts val="800"/>
              </a:spcAft>
              <a:buNone/>
            </a:pPr>
            <a:r>
              <a:rPr lang="en-US" sz="2200" b="1" dirty="0">
                <a:solidFill>
                  <a:schemeClr val="bg1"/>
                </a:solidFill>
              </a:rPr>
              <a:t>MCP</a:t>
            </a:r>
            <a:endParaRPr lang="en-US" sz="2200" dirty="0"/>
          </a:p>
          <a:p>
            <a:pPr marL="0" indent="0">
              <a:spcAft>
                <a:spcPts val="800"/>
              </a:spcAft>
              <a:buNone/>
            </a:pPr>
            <a:r>
              <a:rPr lang="en-US" sz="1600" dirty="0">
                <a:solidFill>
                  <a:schemeClr val="bg2"/>
                </a:solidFill>
              </a:rPr>
              <a:t>What it can reach</a:t>
            </a:r>
            <a:endParaRPr lang="en-US" sz="2200" dirty="0"/>
          </a:p>
        </p:txBody>
      </p:sp>
      <p:sp>
        <p:nvSpPr>
          <p:cNvPr id="4" name="RAG card"/>
          <p:cNvSpPr/>
          <p:nvPr/>
        </p:nvSpPr>
        <p:spPr>
          <a:xfrm>
            <a:off x="2606040" y="1554480"/>
            <a:ext cx="1828800" cy="2468880"/>
          </a:xfrm>
          <a:prstGeom prst="roundRect">
            <a:avLst>
              <a:gd name="adj" fmla="val 6000"/>
            </a:avLst>
          </a:prstGeom>
          <a:solidFill>
            <a:schemeClr val="tx2"/>
          </a:solidFill>
          <a:ln/>
        </p:spPr>
        <p:txBody>
          <a:bodyPr wrap="square" lIns="152400" tIns="152400" rIns="152400" bIns="152400" rtlCol="0" anchor="ctr"/>
          <a:lstStyle/>
          <a:p>
            <a:pPr marL="0" indent="0">
              <a:spcAft>
                <a:spcPts val="800"/>
              </a:spcAft>
              <a:buNone/>
            </a:pPr>
            <a:r>
              <a:rPr lang="en-US" sz="2200" b="1" dirty="0">
                <a:solidFill>
                  <a:schemeClr val="bg1"/>
                </a:solidFill>
              </a:rPr>
              <a:t>RAG</a:t>
            </a:r>
            <a:endParaRPr lang="en-US" sz="2200" dirty="0"/>
          </a:p>
          <a:p>
            <a:pPr marL="0" indent="0">
              <a:spcAft>
                <a:spcPts val="800"/>
              </a:spcAft>
              <a:buNone/>
            </a:pPr>
            <a:r>
              <a:rPr lang="en-US" sz="1600" dirty="0">
                <a:solidFill>
                  <a:schemeClr val="bg2"/>
                </a:solidFill>
              </a:rPr>
              <a:t>What it can look up</a:t>
            </a:r>
            <a:endParaRPr lang="en-US" sz="2200" dirty="0"/>
          </a:p>
        </p:txBody>
      </p:sp>
      <p:sp>
        <p:nvSpPr>
          <p:cNvPr id="5" name="Fine-tuning card"/>
          <p:cNvSpPr/>
          <p:nvPr/>
        </p:nvSpPr>
        <p:spPr>
          <a:xfrm>
            <a:off x="4663440" y="1554480"/>
            <a:ext cx="1828800" cy="2468880"/>
          </a:xfrm>
          <a:prstGeom prst="roundRect">
            <a:avLst>
              <a:gd name="adj" fmla="val 6000"/>
            </a:avLst>
          </a:prstGeom>
          <a:solidFill>
            <a:schemeClr val="tx2"/>
          </a:solidFill>
          <a:ln/>
        </p:spPr>
        <p:txBody>
          <a:bodyPr wrap="square" lIns="152400" tIns="152400" rIns="152400" bIns="152400" rtlCol="0" anchor="ctr"/>
          <a:lstStyle/>
          <a:p>
            <a:pPr marL="0" indent="0">
              <a:spcAft>
                <a:spcPts val="800"/>
              </a:spcAft>
              <a:buNone/>
            </a:pPr>
            <a:r>
              <a:rPr lang="en-US" sz="2200" b="1" dirty="0">
                <a:solidFill>
                  <a:schemeClr val="bg1"/>
                </a:solidFill>
              </a:rPr>
              <a:t>Fine-tuning</a:t>
            </a:r>
            <a:endParaRPr lang="en-US" sz="2200" dirty="0"/>
          </a:p>
          <a:p>
            <a:pPr marL="0" indent="0">
              <a:spcAft>
                <a:spcPts val="800"/>
              </a:spcAft>
              <a:buNone/>
            </a:pPr>
            <a:r>
              <a:rPr lang="en-US" sz="1600" dirty="0">
                <a:solidFill>
                  <a:schemeClr val="bg2"/>
                </a:solidFill>
              </a:rPr>
              <a:t>What's baked in</a:t>
            </a:r>
            <a:endParaRPr lang="en-US" sz="2200" dirty="0"/>
          </a:p>
        </p:txBody>
      </p:sp>
      <p:sp>
        <p:nvSpPr>
          <p:cNvPr id="6" name="Skills card"/>
          <p:cNvSpPr/>
          <p:nvPr/>
        </p:nvSpPr>
        <p:spPr>
          <a:xfrm>
            <a:off x="6720840" y="1554480"/>
            <a:ext cx="1828800" cy="2468880"/>
          </a:xfrm>
          <a:prstGeom prst="roundRect">
            <a:avLst>
              <a:gd name="adj" fmla="val 6000"/>
            </a:avLst>
          </a:prstGeom>
          <a:solidFill>
            <a:schemeClr val="accent1"/>
          </a:solidFill>
          <a:ln/>
        </p:spPr>
        <p:txBody>
          <a:bodyPr wrap="square" lIns="152400" tIns="152400" rIns="152400" bIns="152400" rtlCol="0" anchor="ctr"/>
          <a:lstStyle/>
          <a:p>
            <a:pPr marL="0" indent="0">
              <a:spcAft>
                <a:spcPts val="800"/>
              </a:spcAft>
              <a:buNone/>
            </a:pPr>
            <a:r>
              <a:rPr lang="en-US" sz="2600" b="1" dirty="0">
                <a:solidFill>
                  <a:schemeClr val="tx1"/>
                </a:solidFill>
              </a:rPr>
              <a:t>Skills</a:t>
            </a:r>
            <a:endParaRPr lang="en-US" sz="2600" dirty="0"/>
          </a:p>
          <a:p>
            <a:pPr marL="0" indent="0">
              <a:spcAft>
                <a:spcPts val="800"/>
              </a:spcAft>
              <a:buNone/>
            </a:pPr>
            <a:r>
              <a:rPr lang="en-US" sz="1600" dirty="0">
                <a:solidFill>
                  <a:schemeClr val="tx1"/>
                </a:solidFill>
              </a:rPr>
              <a:t>How to do the work</a:t>
            </a:r>
            <a:endParaRPr lang="en-US" sz="2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685800"/>
          </a:xfrm>
          <a:prstGeom prst="rect">
            <a:avLst/>
          </a:prstGeom>
          <a:noFill/>
          <a:ln/>
        </p:spPr>
        <p:txBody>
          <a:bodyPr wrap="square" lIns="0" tIns="0" rIns="0" bIns="0" rtlCol="0" anchor="ctr"/>
          <a:lstStyle/>
          <a:p>
            <a:pPr marL="0" indent="0" algn="l">
              <a:buNone/>
            </a:pPr>
            <a:r>
              <a:rPr lang="en-US" sz="3000" b="1" dirty="0">
                <a:solidFill>
                  <a:schemeClr val="bg1"/>
                </a:solidFill>
              </a:rPr>
              <a:t>Skills are procedural memory</a:t>
            </a:r>
            <a:endParaRPr lang="en-US" sz="3000" dirty="0"/>
          </a:p>
        </p:txBody>
      </p:sp>
      <p:pic>
        <p:nvPicPr>
          <p:cNvPr id="3" name="Brain icon" descr="preencoded.png"/>
          <p:cNvPicPr>
            <a:picLocks noChangeAspect="1"/>
          </p:cNvPicPr>
          <p:nvPr/>
        </p:nvPicPr>
        <p:blipFill>
          <a:blip r:embed="rId3"/>
          <a:stretch>
            <a:fillRect/>
          </a:stretch>
        </p:blipFill>
        <p:spPr>
          <a:xfrm>
            <a:off x="685800" y="1920240"/>
            <a:ext cx="1554480" cy="1554480"/>
          </a:xfrm>
          <a:prstGeom prst="rect">
            <a:avLst/>
          </a:prstGeom>
        </p:spPr>
      </p:pic>
      <p:sp>
        <p:nvSpPr>
          <p:cNvPr id="4" name="Semantic row"/>
          <p:cNvSpPr txBox="1"/>
          <p:nvPr/>
        </p:nvSpPr>
        <p:spPr>
          <a:xfrm>
            <a:off x="2743200" y="1417320"/>
            <a:ext cx="5852160" cy="777240"/>
          </a:xfrm>
          <a:prstGeom prst="rect">
            <a:avLst/>
          </a:prstGeom>
          <a:noFill/>
          <a:ln/>
        </p:spPr>
        <p:txBody>
          <a:bodyPr wrap="square" lIns="0" tIns="0" rIns="0" bIns="0" rtlCol="0" anchor="ctr"/>
          <a:lstStyle/>
          <a:p>
            <a:pPr marL="0" indent="0">
              <a:buNone/>
            </a:pPr>
            <a:r>
              <a:rPr lang="en-US" sz="2200" b="1" dirty="0">
                <a:solidFill>
                  <a:schemeClr val="bg1"/>
                </a:solidFill>
              </a:rPr>
              <a:t>Semantic </a:t>
            </a:r>
            <a:r>
              <a:rPr lang="en-US" sz="1600" dirty="0">
                <a:solidFill>
                  <a:schemeClr val="bg2"/>
                </a:solidFill>
              </a:rPr>
              <a:t>(facts)</a:t>
            </a:r>
            <a:r>
              <a:rPr lang="en-US" sz="2200" dirty="0">
                <a:solidFill>
                  <a:schemeClr val="bg2"/>
                </a:solidFill>
              </a:rPr>
              <a:t>   →   </a:t>
            </a:r>
            <a:r>
              <a:rPr lang="en-US" sz="2200" dirty="0">
                <a:solidFill>
                  <a:schemeClr val="bg1"/>
                </a:solidFill>
              </a:rPr>
              <a:t>RAG &amp; knowledge bases</a:t>
            </a:r>
            <a:endParaRPr lang="en-US" sz="2200" dirty="0"/>
          </a:p>
        </p:txBody>
      </p:sp>
      <p:sp>
        <p:nvSpPr>
          <p:cNvPr id="5" name="Episodic row"/>
          <p:cNvSpPr txBox="1"/>
          <p:nvPr/>
        </p:nvSpPr>
        <p:spPr>
          <a:xfrm>
            <a:off x="2743200" y="2377440"/>
            <a:ext cx="5852160" cy="777240"/>
          </a:xfrm>
          <a:prstGeom prst="rect">
            <a:avLst/>
          </a:prstGeom>
          <a:noFill/>
          <a:ln/>
        </p:spPr>
        <p:txBody>
          <a:bodyPr wrap="square" lIns="0" tIns="0" rIns="0" bIns="0" rtlCol="0" anchor="ctr"/>
          <a:lstStyle/>
          <a:p>
            <a:pPr marL="0" indent="0">
              <a:buNone/>
            </a:pPr>
            <a:r>
              <a:rPr lang="en-US" sz="2200" b="1" dirty="0">
                <a:solidFill>
                  <a:schemeClr val="bg1"/>
                </a:solidFill>
              </a:rPr>
              <a:t>Episodic </a:t>
            </a:r>
            <a:r>
              <a:rPr lang="en-US" sz="1600" dirty="0">
                <a:solidFill>
                  <a:schemeClr val="bg2"/>
                </a:solidFill>
              </a:rPr>
              <a:t>(experiences)</a:t>
            </a:r>
            <a:r>
              <a:rPr lang="en-US" sz="2200" dirty="0">
                <a:solidFill>
                  <a:schemeClr val="bg2"/>
                </a:solidFill>
              </a:rPr>
              <a:t>   →   </a:t>
            </a:r>
            <a:r>
              <a:rPr lang="en-US" sz="2200" dirty="0">
                <a:solidFill>
                  <a:schemeClr val="bg1"/>
                </a:solidFill>
              </a:rPr>
              <a:t>Conversation logs</a:t>
            </a:r>
            <a:endParaRPr lang="en-US" sz="2200" dirty="0"/>
          </a:p>
        </p:txBody>
      </p:sp>
      <p:sp>
        <p:nvSpPr>
          <p:cNvPr id="6" name="Procedural row"/>
          <p:cNvSpPr txBox="1"/>
          <p:nvPr/>
        </p:nvSpPr>
        <p:spPr>
          <a:xfrm>
            <a:off x="2743200" y="3337560"/>
            <a:ext cx="5852160" cy="777240"/>
          </a:xfrm>
          <a:prstGeom prst="rect">
            <a:avLst/>
          </a:prstGeom>
          <a:noFill/>
          <a:ln/>
        </p:spPr>
        <p:txBody>
          <a:bodyPr wrap="square" lIns="0" tIns="0" rIns="0" bIns="0" rtlCol="0" anchor="ctr"/>
          <a:lstStyle/>
          <a:p>
            <a:pPr marL="0" indent="0">
              <a:buNone/>
            </a:pPr>
            <a:r>
              <a:rPr lang="en-US" sz="2600" b="1" dirty="0">
                <a:solidFill>
                  <a:schemeClr val="accent1"/>
                </a:solidFill>
              </a:rPr>
              <a:t>Procedural </a:t>
            </a:r>
            <a:r>
              <a:rPr lang="en-US" sz="1600" dirty="0">
                <a:solidFill>
                  <a:schemeClr val="bg2"/>
                </a:solidFill>
              </a:rPr>
              <a:t>(how-to)</a:t>
            </a:r>
            <a:r>
              <a:rPr lang="en-US" sz="2600" dirty="0">
                <a:solidFill>
                  <a:schemeClr val="bg2"/>
                </a:solidFill>
              </a:rPr>
              <a:t>   →   </a:t>
            </a:r>
            <a:r>
              <a:rPr lang="en-US" sz="2600" b="1" dirty="0">
                <a:solidFill>
                  <a:schemeClr val="accent1"/>
                </a:solidFill>
              </a:rPr>
              <a:t>Skills</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685800"/>
          </a:xfrm>
          <a:prstGeom prst="rect">
            <a:avLst/>
          </a:prstGeom>
          <a:noFill/>
          <a:ln/>
        </p:spPr>
        <p:txBody>
          <a:bodyPr wrap="square" lIns="0" tIns="0" rIns="0" bIns="0" rtlCol="0" anchor="ctr"/>
          <a:lstStyle/>
          <a:p>
            <a:pPr marL="0" indent="0" algn="l">
              <a:buNone/>
            </a:pPr>
            <a:r>
              <a:rPr lang="en-US" sz="3000" b="1" dirty="0">
                <a:solidFill>
                  <a:schemeClr val="bg1"/>
                </a:solidFill>
              </a:rPr>
              <a:t>Review before you install</a:t>
            </a:r>
            <a:endParaRPr lang="en-US" sz="3000" dirty="0"/>
          </a:p>
        </p:txBody>
      </p:sp>
      <p:pic>
        <p:nvPicPr>
          <p:cNvPr id="3" name="Warning icon" descr="preencoded.png"/>
          <p:cNvPicPr>
            <a:picLocks noChangeAspect="1"/>
          </p:cNvPicPr>
          <p:nvPr/>
        </p:nvPicPr>
        <p:blipFill>
          <a:blip r:embed="rId3"/>
          <a:stretch>
            <a:fillRect/>
          </a:stretch>
        </p:blipFill>
        <p:spPr>
          <a:xfrm>
            <a:off x="685800" y="1600200"/>
            <a:ext cx="1737360" cy="1737360"/>
          </a:xfrm>
          <a:prstGeom prst="rect">
            <a:avLst/>
          </a:prstGeom>
        </p:spPr>
      </p:pic>
      <p:sp>
        <p:nvSpPr>
          <p:cNvPr id="4" name="Prompt injection"/>
          <p:cNvSpPr/>
          <p:nvPr/>
        </p:nvSpPr>
        <p:spPr>
          <a:xfrm>
            <a:off x="2926080" y="1325880"/>
            <a:ext cx="5669280" cy="640080"/>
          </a:xfrm>
          <a:prstGeom prst="roundRect">
            <a:avLst>
              <a:gd name="adj" fmla="val 14286"/>
            </a:avLst>
          </a:prstGeom>
          <a:solidFill>
            <a:schemeClr val="tx2"/>
          </a:solidFill>
          <a:ln/>
        </p:spPr>
        <p:txBody>
          <a:bodyPr wrap="square" lIns="177800" tIns="177800" rIns="177800" bIns="177800" rtlCol="0" anchor="ctr"/>
          <a:lstStyle/>
          <a:p>
            <a:pPr marL="0" indent="0">
              <a:buNone/>
            </a:pPr>
            <a:r>
              <a:rPr lang="en-US" sz="2000" dirty="0">
                <a:solidFill>
                  <a:schemeClr val="bg1"/>
                </a:solidFill>
              </a:rPr>
              <a:t>Prompt injection</a:t>
            </a:r>
            <a:endParaRPr lang="en-US" sz="2000" dirty="0"/>
          </a:p>
        </p:txBody>
      </p:sp>
      <p:sp>
        <p:nvSpPr>
          <p:cNvPr id="5" name="Tool poisoning"/>
          <p:cNvSpPr/>
          <p:nvPr/>
        </p:nvSpPr>
        <p:spPr>
          <a:xfrm>
            <a:off x="2926080" y="2148840"/>
            <a:ext cx="5669280" cy="640080"/>
          </a:xfrm>
          <a:prstGeom prst="roundRect">
            <a:avLst>
              <a:gd name="adj" fmla="val 14286"/>
            </a:avLst>
          </a:prstGeom>
          <a:solidFill>
            <a:schemeClr val="tx2"/>
          </a:solidFill>
          <a:ln/>
        </p:spPr>
        <p:txBody>
          <a:bodyPr wrap="square" lIns="177800" tIns="177800" rIns="177800" bIns="177800" rtlCol="0" anchor="ctr"/>
          <a:lstStyle/>
          <a:p>
            <a:pPr marL="0" indent="0">
              <a:buNone/>
            </a:pPr>
            <a:r>
              <a:rPr lang="en-US" sz="2000" dirty="0">
                <a:solidFill>
                  <a:schemeClr val="bg1"/>
                </a:solidFill>
              </a:rPr>
              <a:t>Tool poisoning</a:t>
            </a:r>
            <a:endParaRPr lang="en-US" sz="2000" dirty="0"/>
          </a:p>
        </p:txBody>
      </p:sp>
      <p:sp>
        <p:nvSpPr>
          <p:cNvPr id="6" name="Hidden malware"/>
          <p:cNvSpPr/>
          <p:nvPr/>
        </p:nvSpPr>
        <p:spPr>
          <a:xfrm>
            <a:off x="2926080" y="2971800"/>
            <a:ext cx="5669280" cy="640080"/>
          </a:xfrm>
          <a:prstGeom prst="roundRect">
            <a:avLst>
              <a:gd name="adj" fmla="val 14286"/>
            </a:avLst>
          </a:prstGeom>
          <a:solidFill>
            <a:schemeClr val="tx2"/>
          </a:solidFill>
          <a:ln/>
        </p:spPr>
        <p:txBody>
          <a:bodyPr wrap="square" lIns="177800" tIns="177800" rIns="177800" bIns="177800" rtlCol="0" anchor="ctr"/>
          <a:lstStyle/>
          <a:p>
            <a:pPr marL="0" indent="0">
              <a:buNone/>
            </a:pPr>
            <a:r>
              <a:rPr lang="en-US" sz="2000" dirty="0">
                <a:solidFill>
                  <a:schemeClr val="bg1"/>
                </a:solidFill>
              </a:rPr>
              <a:t>Hidden malware</a:t>
            </a:r>
            <a:endParaRPr lang="en-US" sz="2000" dirty="0"/>
          </a:p>
        </p:txBody>
      </p:sp>
      <p:sp>
        <p:nvSpPr>
          <p:cNvPr id="7" name="Trust caption"/>
          <p:cNvSpPr txBox="1"/>
          <p:nvPr/>
        </p:nvSpPr>
        <p:spPr>
          <a:xfrm>
            <a:off x="548640" y="4023360"/>
            <a:ext cx="8046720" cy="457200"/>
          </a:xfrm>
          <a:prstGeom prst="rect">
            <a:avLst/>
          </a:prstGeom>
          <a:noFill/>
          <a:ln/>
        </p:spPr>
        <p:txBody>
          <a:bodyPr wrap="square" lIns="0" tIns="0" rIns="0" bIns="0" rtlCol="0" anchor="ctr"/>
          <a:lstStyle/>
          <a:p>
            <a:pPr marL="0" indent="0">
              <a:buNone/>
            </a:pPr>
            <a:r>
              <a:rPr lang="en-US" sz="1800" dirty="0">
                <a:solidFill>
                  <a:schemeClr val="bg2"/>
                </a:solidFill>
              </a:rPr>
              <a:t>Vet publicly shared skills like any software dependency</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5852160" cy="1554480"/>
          </a:xfrm>
          <a:prstGeom prst="rect">
            <a:avLst/>
          </a:prstGeom>
          <a:noFill/>
          <a:ln/>
        </p:spPr>
        <p:txBody>
          <a:bodyPr wrap="square" lIns="0" tIns="0" rIns="0" bIns="0" rtlCol="0" anchor="b"/>
          <a:lstStyle/>
          <a:p>
            <a:pPr marL="0" indent="0" algn="l">
              <a:buNone/>
            </a:pPr>
            <a:r>
              <a:rPr lang="en-US" sz="4000" b="1" dirty="0">
                <a:solidFill>
                  <a:schemeClr val="bg1"/>
                </a:solidFill>
              </a:rPr>
              <a:t>Write the procedure once</a:t>
            </a:r>
            <a:endParaRPr lang="en-US" sz="4000" dirty="0"/>
          </a:p>
        </p:txBody>
      </p:sp>
      <p:sp>
        <p:nvSpPr>
          <p:cNvPr id="3" name="Text 0"/>
          <p:cNvSpPr>
            <a:spLocks noGrp="1"/>
          </p:cNvSpPr>
          <p:nvPr>
            <p:ph type="body" idx="101" hasCustomPrompt="1"/>
          </p:nvPr>
        </p:nvSpPr>
        <p:spPr>
          <a:xfrm>
            <a:off x="548640" y="3063240"/>
            <a:ext cx="5852160" cy="777240"/>
          </a:xfrm>
          <a:prstGeom prst="rect">
            <a:avLst/>
          </a:prstGeom>
          <a:noFill/>
          <a:ln/>
        </p:spPr>
        <p:txBody>
          <a:bodyPr wrap="square" lIns="0" tIns="0" rIns="0" bIns="0" rtlCol="0" anchor="t"/>
          <a:lstStyle/>
          <a:p>
            <a:pPr marL="0" indent="0" algn="l">
              <a:buNone/>
            </a:pPr>
            <a:r>
              <a:rPr lang="en-US" sz="2000" dirty="0">
                <a:solidFill>
                  <a:schemeClr val="bg2"/>
                </a:solidFill>
              </a:rPr>
              <a:t>Used when relevant  ·  Loaded as needed</a:t>
            </a:r>
          </a:p>
          <a:p>
            <a:pPr marL="0" indent="0" algn="l">
              <a:buNone/>
            </a:pPr>
            <a:r>
              <a:rPr lang="en-US" sz="2000" dirty="0">
                <a:solidFill>
                  <a:schemeClr val="bg2"/>
                </a:solidFill>
              </a:rPr>
              <a:t>Open format, private content</a:t>
            </a:r>
            <a:endParaRPr lang="en-US" sz="2000" dirty="0"/>
          </a:p>
        </p:txBody>
      </p:sp>
      <p:sp>
        <p:nvSpPr>
          <p:cNvPr id="4" name="Old 47"/>
          <p:cNvSpPr txBox="1"/>
          <p:nvPr/>
        </p:nvSpPr>
        <p:spPr>
          <a:xfrm>
            <a:off x="6675120" y="777240"/>
            <a:ext cx="1920240" cy="1005840"/>
          </a:xfrm>
          <a:prstGeom prst="rect">
            <a:avLst/>
          </a:prstGeom>
          <a:noFill/>
          <a:ln/>
        </p:spPr>
        <p:txBody>
          <a:bodyPr wrap="square" lIns="0" tIns="0" rIns="0" bIns="0" rtlCol="0" anchor="ctr"/>
          <a:lstStyle/>
          <a:p>
            <a:pPr marL="0" indent="0" algn="ctr">
              <a:buNone/>
            </a:pPr>
            <a:r>
              <a:rPr lang="en-US" sz="5400" b="1" strike="sngStrike" dirty="0">
                <a:solidFill>
                  <a:schemeClr val="bg2"/>
                </a:solidFill>
                <a:latin typeface="Arial" pitchFamily="34" charset="0"/>
                <a:ea typeface="Arial" pitchFamily="34" charset="-122"/>
                <a:cs typeface="Arial" pitchFamily="34" charset="-120"/>
              </a:rPr>
              <a:t>47</a:t>
            </a:r>
            <a:endParaRPr lang="en-US" sz="5400" dirty="0"/>
          </a:p>
        </p:txBody>
      </p:sp>
      <p:pic>
        <p:nvPicPr>
          <p:cNvPr id="5" name="Down arrow" descr="preencoded.png"/>
          <p:cNvPicPr>
            <a:picLocks noChangeAspect="1"/>
          </p:cNvPicPr>
          <p:nvPr/>
        </p:nvPicPr>
        <p:blipFill>
          <a:blip r:embed="rId3"/>
          <a:stretch>
            <a:fillRect/>
          </a:stretch>
        </p:blipFill>
        <p:spPr>
          <a:xfrm>
            <a:off x="7424928" y="1920240"/>
            <a:ext cx="411480" cy="411480"/>
          </a:xfrm>
          <a:prstGeom prst="rect">
            <a:avLst/>
          </a:prstGeom>
        </p:spPr>
      </p:pic>
      <p:sp>
        <p:nvSpPr>
          <p:cNvPr id="6" name="New 1"/>
          <p:cNvSpPr txBox="1"/>
          <p:nvPr/>
        </p:nvSpPr>
        <p:spPr>
          <a:xfrm>
            <a:off x="6675120" y="2468880"/>
            <a:ext cx="1920240" cy="1463040"/>
          </a:xfrm>
          <a:prstGeom prst="rect">
            <a:avLst/>
          </a:prstGeom>
          <a:noFill/>
          <a:ln/>
        </p:spPr>
        <p:txBody>
          <a:bodyPr wrap="square" lIns="0" tIns="0" rIns="0" bIns="0" rtlCol="0" anchor="ctr"/>
          <a:lstStyle/>
          <a:p>
            <a:pPr marL="0" indent="0" algn="ctr">
              <a:buNone/>
            </a:pPr>
            <a:r>
              <a:rPr lang="en-US" sz="11000" b="1" dirty="0">
                <a:solidFill>
                  <a:schemeClr val="accent1"/>
                </a:solidFill>
                <a:latin typeface="Arial" pitchFamily="34" charset="0"/>
                <a:ea typeface="Arial" pitchFamily="34" charset="-122"/>
                <a:cs typeface="Arial" pitchFamily="34" charset="-120"/>
              </a:rPr>
              <a:t>1</a:t>
            </a:r>
            <a:endParaRPr lang="en-US" sz="11000" dirty="0"/>
          </a:p>
        </p:txBody>
      </p:sp>
    </p:spTree>
  </p:cSld>
  <p:clrMapOvr>
    <a:masterClrMapping/>
  </p:clrMapOvr>
</p:sld>
</file>

<file path=ppt/theme/theme1.xml><?xml version="1.0" encoding="utf-8"?>
<a:theme xmlns:a="http://schemas.openxmlformats.org/drawingml/2006/main" name="Agent Skills Dark">
  <a:themeElements>
    <a:clrScheme name="Agent Skills Dark">
      <a:dk1>
        <a:srgbClr val="161A23"/>
      </a:dk1>
      <a:lt1>
        <a:srgbClr val="F4F5F7"/>
      </a:lt1>
      <a:dk2>
        <a:srgbClr val="242A38"/>
      </a:dk2>
      <a:lt2>
        <a:srgbClr val="8E97A8"/>
      </a:lt2>
      <a:accent1>
        <a:srgbClr val="FFB547"/>
      </a:accent1>
      <a:accent2>
        <a:srgbClr val="4FC3B8"/>
      </a:accent2>
      <a:accent3>
        <a:srgbClr val="FF6B6B"/>
      </a:accent3>
      <a:accent4>
        <a:srgbClr val="6C7A96"/>
      </a:accent4>
      <a:accent5>
        <a:srgbClr val="3A4256"/>
      </a:accent5>
      <a:accent6>
        <a:srgbClr val="C9D1E0"/>
      </a:accent6>
      <a:hlink>
        <a:srgbClr val="4FC3B8"/>
      </a:hlink>
      <a:folHlink>
        <a:srgbClr val="8E97A8"/>
      </a:folHlink>
    </a:clrScheme>
    <a:fontScheme name="Agent Skills Dar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1192</Words>
  <Application>Microsoft Macintosh PowerPoint</Application>
  <PresentationFormat>On-screen Show (16:9)</PresentationFormat>
  <Paragraphs>54</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Agent Skills Dark</vt:lpstr>
      <vt:lpstr>Teaching AI agents how to do the job</vt:lpstr>
      <vt:lpstr>LLMs know facts, not your procedures</vt:lpstr>
      <vt:lpstr>A skill is a folder that loads in layers</vt:lpstr>
      <vt:lpstr>Four ways to give an agent knowledge</vt:lpstr>
      <vt:lpstr>Skills are procedural memory</vt:lpstr>
      <vt:lpstr>Review before you install</vt:lpstr>
      <vt:lpstr>Write the procedure once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AI Agents How to Do the Job</dc:title>
  <dc:subject>PptxGenJS Presentation</dc:subject>
  <dc:creator>Laura Solarz</dc:creator>
  <cp:lastModifiedBy>Laura Solarz</cp:lastModifiedBy>
  <cp:revision>6</cp:revision>
  <dcterms:created xsi:type="dcterms:W3CDTF">2026-10-09T14:55:41Z</dcterms:created>
  <dcterms:modified xsi:type="dcterms:W3CDTF">2026-10-14T18:33:09Z</dcterms:modified>
</cp:coreProperties>
</file>